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7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SemiBold-regular.fntdata"/><Relationship Id="rId16" Type="http://schemas.openxmlformats.org/officeDocument/2006/relationships/font" Target="fonts/UrbanistMedium-boldItalic.fntdata"/><Relationship Id="rId19" Type="http://schemas.openxmlformats.org/officeDocument/2006/relationships/font" Target="fonts/UrbanistSemiBold-italic.fntdata"/><Relationship Id="rId18" Type="http://schemas.openxmlformats.org/officeDocument/2006/relationships/font" Target="fonts/Urbanis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90190b5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90190b5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SLIDES_API181206973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SLIDES_API18120697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SLIDES_API21323098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SLIDES_API21323098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SLIDES_API179091919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SLIDES_API179091919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SLIDES_API12612863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SLIDES_API12612863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SLIDES_API171620466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SLIDES_API171620466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90190b565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a90190b565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38" name="Google Shape;438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39" name="Google Shape;439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0" name="Google Shape;440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" name="Google Shape;441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2" name="Google Shape;442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6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AI Future Presentation</a:t>
            </a:r>
            <a:endParaRPr sz="7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44" name="Google Shape;444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45" name="Google Shape;445;p4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46" name="Google Shape;446;p41"/>
          <p:cNvSpPr txBox="1"/>
          <p:nvPr>
            <p:ph idx="7" type="subTitle"/>
          </p:nvPr>
        </p:nvSpPr>
        <p:spPr>
          <a:xfrm>
            <a:off x="228591" y="34257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Generated by OceanAI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451" name="Google Shape;451;p42"/>
          <p:cNvPicPr preferRelativeResize="0"/>
          <p:nvPr/>
        </p:nvPicPr>
        <p:blipFill rotWithShape="1">
          <a:blip r:embed="rId3">
            <a:alphaModFix/>
          </a:blip>
          <a:srcRect b="50283" l="35228" r="7527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452" name="Google Shape;452;p42"/>
          <p:cNvPicPr preferRelativeResize="0"/>
          <p:nvPr/>
        </p:nvPicPr>
        <p:blipFill rotWithShape="1">
          <a:blip r:embed="rId4">
            <a:alphaModFix/>
          </a:blip>
          <a:srcRect b="2361" l="19958" r="17041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453" name="Google Shape;453;p42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4" name="Google Shape;454;p42"/>
          <p:cNvSpPr txBox="1"/>
          <p:nvPr>
            <p:ph type="title"/>
          </p:nvPr>
        </p:nvSpPr>
        <p:spPr>
          <a:xfrm>
            <a:off x="228600" y="689725"/>
            <a:ext cx="38484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Current Trajectories &amp; Emerging Trends in AI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2"/>
          <p:cNvSpPr txBox="1"/>
          <p:nvPr>
            <p:ph idx="1" type="body"/>
          </p:nvPr>
        </p:nvSpPr>
        <p:spPr>
          <a:xfrm>
            <a:off x="235575" y="1297875"/>
            <a:ext cx="4163100" cy="3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**Generative AI:** Revolutionizing content creation, design, and even drug discovery with models like GPT and DALL-E.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**Autonomous Systems:** Advancements in self-driving cars, drones, and robotic automation across industries.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**Explainable AI (XAI):** Growing demand for AI systems that can justify their decisions, fostering trust and transparency.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**Edge AI:** Processing AI on local devices, improving speed, privacy, and reducing reliance on cloud infrastructure.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**AI for Science &amp; Discovery:** Accelerating research in material science, climate modeling, and medical breakthroughs.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2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OceanAI</a:t>
            </a:r>
            <a:endParaRPr/>
          </a:p>
        </p:txBody>
      </p:sp>
      <p:sp>
        <p:nvSpPr>
          <p:cNvPr id="457" name="Google Shape;457;p4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OceanAI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462" name="Google Shape;462;p43"/>
          <p:cNvPicPr preferRelativeResize="0"/>
          <p:nvPr/>
        </p:nvPicPr>
        <p:blipFill rotWithShape="1">
          <a:blip r:embed="rId3">
            <a:alphaModFix/>
          </a:blip>
          <a:srcRect b="50283" l="35228" r="7527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463" name="Google Shape;463;p43"/>
          <p:cNvPicPr preferRelativeResize="0"/>
          <p:nvPr/>
        </p:nvPicPr>
        <p:blipFill rotWithShape="1">
          <a:blip r:embed="rId4">
            <a:alphaModFix/>
          </a:blip>
          <a:srcRect b="2361" l="19958" r="17041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464" name="Google Shape;464;p43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5" name="Google Shape;465;p43"/>
          <p:cNvSpPr txBox="1"/>
          <p:nvPr>
            <p:ph type="title"/>
          </p:nvPr>
        </p:nvSpPr>
        <p:spPr>
          <a:xfrm>
            <a:off x="228600" y="689725"/>
            <a:ext cx="38484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Transforming Industries &amp; Daily Life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3"/>
          <p:cNvSpPr txBox="1"/>
          <p:nvPr>
            <p:ph idx="1" type="body"/>
          </p:nvPr>
        </p:nvSpPr>
        <p:spPr>
          <a:xfrm>
            <a:off x="235575" y="1297875"/>
            <a:ext cx="4163100" cy="3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**Healthcare:** Personalized medicine, accelerated drug development, predictive diagnostics, and robotic surgery.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**Workforce &amp; Education:** AI as a co-pilot, automating routine tasks, enhancing learning experiences, and fostering new skill sets.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**Sustainability &amp; Climate:** Optimizing energy grids, predicting weather patterns, and managing resource consumption more efficiently.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**Smart Cities &amp; Infrastructure:** Intelligent traffic management, predictive maintenance, and enhanced public safety systems.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3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OceanAI</a:t>
            </a:r>
            <a:endParaRPr/>
          </a:p>
        </p:txBody>
      </p:sp>
      <p:sp>
        <p:nvSpPr>
          <p:cNvPr id="468" name="Google Shape;468;p4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OceanAI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473" name="Google Shape;473;p44"/>
          <p:cNvPicPr preferRelativeResize="0"/>
          <p:nvPr/>
        </p:nvPicPr>
        <p:blipFill rotWithShape="1">
          <a:blip r:embed="rId3">
            <a:alphaModFix/>
          </a:blip>
          <a:srcRect b="50283" l="35228" r="7527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474" name="Google Shape;474;p44"/>
          <p:cNvPicPr preferRelativeResize="0"/>
          <p:nvPr/>
        </p:nvPicPr>
        <p:blipFill rotWithShape="1">
          <a:blip r:embed="rId4">
            <a:alphaModFix/>
          </a:blip>
          <a:srcRect b="2361" l="19958" r="17041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475" name="Google Shape;475;p44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6" name="Google Shape;476;p44"/>
          <p:cNvSpPr txBox="1"/>
          <p:nvPr>
            <p:ph type="title"/>
          </p:nvPr>
        </p:nvSpPr>
        <p:spPr>
          <a:xfrm>
            <a:off x="228600" y="689725"/>
            <a:ext cx="38484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Addressing Challenges &amp; Ethical Frontiers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4"/>
          <p:cNvSpPr txBox="1"/>
          <p:nvPr>
            <p:ph idx="1" type="body"/>
          </p:nvPr>
        </p:nvSpPr>
        <p:spPr>
          <a:xfrm>
            <a:off x="235575" y="1297875"/>
            <a:ext cx="4163100" cy="3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**Bias &amp; Fairness:** Ensuring AI systems are developed and deployed without perpetuating or amplifying societal biases.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**Privacy &amp; Data Security:** Protecting sensitive information as AI requires vast amounts of data for training and operation.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**Job Displacement &amp; Workforce Adaptation:** Managing the economic impact of automation and investing in reskilling initiatives.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**Accountability &amp; Governance:** Establishing clear legal and ethical frameworks for AI development and deployment.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**The 'Control Problem':** Ensuring advanced AI systems remain aligned with human values and intentions.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4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OceanAI</a:t>
            </a:r>
            <a:endParaRPr/>
          </a:p>
        </p:txBody>
      </p:sp>
      <p:sp>
        <p:nvSpPr>
          <p:cNvPr id="479" name="Google Shape;479;p44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OceanAI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484" name="Google Shape;484;p45"/>
          <p:cNvPicPr preferRelativeResize="0"/>
          <p:nvPr/>
        </p:nvPicPr>
        <p:blipFill rotWithShape="1">
          <a:blip r:embed="rId3">
            <a:alphaModFix/>
          </a:blip>
          <a:srcRect b="50283" l="35228" r="7527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485" name="Google Shape;485;p45"/>
          <p:cNvPicPr preferRelativeResize="0"/>
          <p:nvPr/>
        </p:nvPicPr>
        <p:blipFill rotWithShape="1">
          <a:blip r:embed="rId4">
            <a:alphaModFix/>
          </a:blip>
          <a:srcRect b="2361" l="19958" r="17041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486" name="Google Shape;486;p45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7" name="Google Shape;487;p45"/>
          <p:cNvSpPr txBox="1"/>
          <p:nvPr>
            <p:ph type="title"/>
          </p:nvPr>
        </p:nvSpPr>
        <p:spPr>
          <a:xfrm>
            <a:off x="228600" y="689725"/>
            <a:ext cx="38484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Vision for the AI-Powered Future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5"/>
          <p:cNvSpPr txBox="1"/>
          <p:nvPr>
            <p:ph idx="1" type="body"/>
          </p:nvPr>
        </p:nvSpPr>
        <p:spPr>
          <a:xfrm>
            <a:off x="235575" y="1297875"/>
            <a:ext cx="4163100" cy="3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**Augmented Human Capabilities:** AI will serve as a powerful tool to extend human potential in creativity, problem-solving, and discovery.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**Hyper-Personalized Experiences:** From education to entertainment, AI will tailor experiences to individual needs and preferences.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**Solving Grand Challenges:** AI will be instrumental in tackling complex global issues like poverty, disease, and climate change.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**Continued Innovation:** The future holds unimaginable advancements, pushing the boundaries of what machines can achieve.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Embrace the future responsibly: AI's true potential lies in its ethical development and application for collective good.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5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OceanAI</a:t>
            </a:r>
            <a:endParaRPr/>
          </a:p>
        </p:txBody>
      </p:sp>
      <p:sp>
        <p:nvSpPr>
          <p:cNvPr id="490" name="Google Shape;490;p45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OceanAI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495" name="Google Shape;495;p46"/>
          <p:cNvPicPr preferRelativeResize="0"/>
          <p:nvPr/>
        </p:nvPicPr>
        <p:blipFill rotWithShape="1">
          <a:blip r:embed="rId3">
            <a:alphaModFix/>
          </a:blip>
          <a:srcRect b="50283" l="35228" r="7527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496" name="Google Shape;496;p46"/>
          <p:cNvPicPr preferRelativeResize="0"/>
          <p:nvPr/>
        </p:nvPicPr>
        <p:blipFill rotWithShape="1">
          <a:blip r:embed="rId4">
            <a:alphaModFix/>
          </a:blip>
          <a:srcRect b="2361" l="19958" r="17041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497" name="Google Shape;497;p46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8" name="Google Shape;498;p46"/>
          <p:cNvSpPr txBox="1"/>
          <p:nvPr>
            <p:ph type="title"/>
          </p:nvPr>
        </p:nvSpPr>
        <p:spPr>
          <a:xfrm>
            <a:off x="228600" y="689725"/>
            <a:ext cx="38484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The Future of Artificial Intelligence: A Transformative Journey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6"/>
          <p:cNvSpPr txBox="1"/>
          <p:nvPr>
            <p:ph idx="1" type="body"/>
          </p:nvPr>
        </p:nvSpPr>
        <p:spPr>
          <a:xfrm>
            <a:off x="235575" y="1297875"/>
            <a:ext cx="4163100" cy="3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Artificial Intelligence (AI) is rapidly evolving, moving from niche applications to pervasive integration in daily life.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This presentation explores the anticipated advancements, challenges, and societal impact of future AI.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We stand at the cusp of a new technological era, driven by intelligent systems that learn, adapt, and create.</a:t>
            </a:r>
            <a:endParaRPr sz="12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Understanding AI's trajectory is crucial for individuals, businesses, and governments alike.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6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OceanAI</a:t>
            </a:r>
            <a:endParaRPr/>
          </a:p>
        </p:txBody>
      </p:sp>
      <p:sp>
        <p:nvSpPr>
          <p:cNvPr id="501" name="Google Shape;501;p4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OceanAI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7"/>
          <p:cNvSpPr txBox="1"/>
          <p:nvPr>
            <p:ph type="title"/>
          </p:nvPr>
        </p:nvSpPr>
        <p:spPr>
          <a:xfrm>
            <a:off x="228600" y="290450"/>
            <a:ext cx="4854000" cy="99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lt1"/>
                </a:solidFill>
              </a:rPr>
              <a:t>Thank you</a:t>
            </a:r>
            <a:endParaRPr sz="6200">
              <a:solidFill>
                <a:schemeClr val="lt1"/>
              </a:solidFill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